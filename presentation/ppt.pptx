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 Bold" panose="020B0604020202020204" charset="0"/>
      <p:regular r:id="rId19"/>
    </p:embeddedFont>
    <p:embeddedFont>
      <p:font typeface="Source Sans 3" panose="020B0604020202020204" charset="0"/>
      <p:regular r:id="rId20"/>
    </p:embeddedFont>
    <p:embeddedFont>
      <p:font typeface="Source Sans 3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57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23dcs134@charusat.edu.in" TargetMode="External"/><Relationship Id="rId3" Type="http://schemas.openxmlformats.org/officeDocument/2006/relationships/image" Target="../media/image28.png"/><Relationship Id="rId7" Type="http://schemas.openxmlformats.org/officeDocument/2006/relationships/hyperlink" Target="mailto:23aiml055@charusat.edu.i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23aiml042@charusat.edu.in" TargetMode="External"/><Relationship Id="rId5" Type="http://schemas.openxmlformats.org/officeDocument/2006/relationships/hyperlink" Target="mailto:d24aiml082@charusat.edu.in" TargetMode="External"/><Relationship Id="rId4" Type="http://schemas.openxmlformats.org/officeDocument/2006/relationships/image" Target="../media/image2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91952"/>
            <a:ext cx="10752067" cy="993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kern="0" spc="-3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D1 Mission Readiness &amp; Predictive Maintenance Copilot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9814" y="1982490"/>
            <a:ext cx="11361652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Galcogens — IBM Bob AI Innovation Hackathon, Track: AI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967" y="2392164"/>
            <a:ext cx="9043761" cy="3773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77662" y="2566085"/>
            <a:ext cx="1869224" cy="23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877662" y="2872823"/>
            <a:ext cx="3524824" cy="190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prognostics for readiness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77805" y="3794178"/>
            <a:ext cx="1869224" cy="23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Allocate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77805" y="4100916"/>
            <a:ext cx="3524824" cy="190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Mission-adaptive sortie matching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77805" y="5060970"/>
            <a:ext cx="1869224" cy="23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77805" y="5367708"/>
            <a:ext cx="3524824" cy="190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AFTO documentation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8073F7-2139-89CB-3EB0-E889B27FE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786" y="6333231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73287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Problem: Unreliable Mission Readiness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2369046"/>
            <a:ext cx="10752067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Military organizations face a critical challenge: accurately assessing the true mission readiness of aircraft, vehicles, and combat equipment. Current maintenance protocols often rely on fixed calendar intervals, a reactive approach that fails to account for the actual, real-time degradation of components.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9814" y="3525838"/>
            <a:ext cx="10752067" cy="801985"/>
          </a:xfrm>
          <a:prstGeom prst="roundRect">
            <a:avLst>
              <a:gd name="adj" fmla="val 3847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89" y="3812480"/>
            <a:ext cx="257069" cy="205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8234" y="3782913"/>
            <a:ext cx="1048755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outdated approach leads to unexpected failures in over </a:t>
            </a:r>
            <a:r>
              <a:rPr lang="en-US" sz="16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50% of critical missions</a:t>
            </a: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9814" y="4559201"/>
            <a:ext cx="10752067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the US military investing an astonishing $90 billion annually in maintenance, a strategic shift to predictive, condition-based maintenance is not just about cost-efficiency—it promises to save billions and, more importantly, protect human lives by significantly reducing mission-critical failures.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BEC84D-8305-2A02-E4F1-AB59A9E95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786" y="6362631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1605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3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Data Paradox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012899" y="1756668"/>
            <a:ext cx="10458982" cy="5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Gigabytes of onboard HUMS telemetry — temperatures, vibrations, pressures — sit unanalyzed in data silos while platforms remain grounded for weeks, even though the data needed to predict failures weeks in advance already exists.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9814" y="1547912"/>
            <a:ext cx="25399" cy="988814"/>
          </a:xfrm>
          <a:prstGeom prst="roundRect">
            <a:avLst>
              <a:gd name="adj" fmla="val 50001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719814" y="2931021"/>
            <a:ext cx="513771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We Have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417292"/>
            <a:ext cx="2476041" cy="23328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168" y="3638054"/>
            <a:ext cx="1932931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HUMS Telemetry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42168" y="4101108"/>
            <a:ext cx="1932931" cy="142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streams of temperature, vibration, and pressure sensor data from every platform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1390" y="3417292"/>
            <a:ext cx="2476140" cy="23328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743" y="3638054"/>
            <a:ext cx="1933031" cy="83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Historical Maintenance Records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703743" y="4656138"/>
            <a:ext cx="1933031" cy="85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Years of AFTO Form 781A discrepancy logs and repair histories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40515" y="2931021"/>
            <a:ext cx="513771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What's Happening Instead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0515" y="3417292"/>
            <a:ext cx="2476041" cy="26103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62868" y="3638054"/>
            <a:ext cx="1932931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Silos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662868" y="4101108"/>
            <a:ext cx="1932931" cy="142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sensor data remains isolated, unprocessed, and invisible to decision-makers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2090" y="3417292"/>
            <a:ext cx="2476140" cy="261034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4444" y="3638054"/>
            <a:ext cx="1933031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Platforms Grounded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324444" y="4378623"/>
            <a:ext cx="1933031" cy="142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Aircraft sit idle for weeks on calendar-based schedules while actionable data goes unused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1581BC-E51E-A150-1053-807140970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815" y="6383580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4143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3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 &amp; Architecture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19814" y="1530449"/>
            <a:ext cx="11361652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end-to-end modular monolith platform built for military-grade reliability: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024856"/>
            <a:ext cx="3583989" cy="7815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5171" y="2991941"/>
            <a:ext cx="319327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Telemetry Ingestion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5171" y="3380780"/>
            <a:ext cx="3193276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HUMS data pipeline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803" y="2024856"/>
            <a:ext cx="3583989" cy="7815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9160" y="2991941"/>
            <a:ext cx="3193276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GPU-Accelerated XGBoost Prognostics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99160" y="3658295"/>
            <a:ext cx="3193276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High-speed failure prediction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793" y="2024856"/>
            <a:ext cx="3584088" cy="7815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83149" y="2991941"/>
            <a:ext cx="3193375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FMC/PMC/NMC Readiness Scoring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083149" y="3658295"/>
            <a:ext cx="3193375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Tri-state mission capability rating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4" y="4139307"/>
            <a:ext cx="3583989" cy="7815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5171" y="5106392"/>
            <a:ext cx="3193276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IBM Bob Copilot via FastMCP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915171" y="5772745"/>
            <a:ext cx="3193276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Autonomous tool orchestration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3803" y="4139307"/>
            <a:ext cx="3583989" cy="7815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99160" y="5106392"/>
            <a:ext cx="319327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watsonx.ai Granite 3-8B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499160" y="5495230"/>
            <a:ext cx="3193276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 language diagnostics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D904BD-59EE-038E-C3A0-8BCDF0D47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3786" y="6311313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02866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Propulsion Physics &amp; NASA C-MAPSS ML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827113"/>
            <a:ext cx="5687771" cy="3903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5771" y="1801416"/>
            <a:ext cx="45623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Details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15771" y="2299295"/>
            <a:ext cx="4562361" cy="230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GPU-accelerated XGBoost regressor trained on NASA C-MAPSS FD001 turbofan degradation benchmark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108 engineered condition features extracted from raw sensor streams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holdout performance on unseen test data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15771" y="4833838"/>
            <a:ext cx="4562361" cy="1089819"/>
          </a:xfrm>
          <a:prstGeom prst="roundRect">
            <a:avLst>
              <a:gd name="adj" fmla="val 2831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446" y="5126831"/>
            <a:ext cx="2570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4191" y="5070277"/>
            <a:ext cx="3688266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R² of 0.7935 — strong predictive power on real turbofan degradation data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D844BC-15C0-0338-6A32-E676454AC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566" y="6357966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46113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3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What-If Mission Stress Simulator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19814" y="1572419"/>
            <a:ext cx="10752067" cy="5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counterfactual digital twin that models harsh combat environments — computing environmental wear multipliers and mission survivability probability </a:t>
            </a:r>
            <a:r>
              <a:rPr lang="en-US" sz="15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before</a:t>
            </a: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committing a platform to a sortie.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9814" y="2352477"/>
            <a:ext cx="5283266" cy="1836936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15171" y="2547838"/>
            <a:ext cx="586170" cy="586184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397" y="2708970"/>
            <a:ext cx="263717" cy="2637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5171" y="3319562"/>
            <a:ext cx="4892553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Desert Heat 45°C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5171" y="3708400"/>
            <a:ext cx="4892553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Thermal stress on engine and avionics components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88615" y="2352477"/>
            <a:ext cx="5283266" cy="1836936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383972" y="2547838"/>
            <a:ext cx="586170" cy="586184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5198" y="2708970"/>
            <a:ext cx="263717" cy="2637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83972" y="3319562"/>
            <a:ext cx="4892553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Sand/Dust Ingestion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83972" y="3708400"/>
            <a:ext cx="4892553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Compressor blade erosion and filter degradation modeling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19814" y="4374952"/>
            <a:ext cx="5283266" cy="1836936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5171" y="4570313"/>
            <a:ext cx="586170" cy="586184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397" y="4731445"/>
            <a:ext cx="263717" cy="2637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171" y="5342037"/>
            <a:ext cx="4892553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Sub-Zero Arctic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15171" y="5730875"/>
            <a:ext cx="4892553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Cold-soak hydraulic and fuel system stress simulation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188615" y="4374952"/>
            <a:ext cx="5283266" cy="1836936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3972" y="4570313"/>
            <a:ext cx="586170" cy="586184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5198" y="4731445"/>
            <a:ext cx="263717" cy="2637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83972" y="5342037"/>
            <a:ext cx="4892553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9G Combat Turns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383972" y="5730875"/>
            <a:ext cx="4892553" cy="28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Structural fatigue and airframe load cycle accumulation</a:t>
            </a:r>
            <a:endParaRPr lang="en-US" sz="15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1E5310-2C5D-8B2E-BB1B-BA6FDD457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555" y="6323211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2195"/>
            <a:ext cx="10752067" cy="501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3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Mission-Adaptive Sortie Re-allocation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6" y="1470720"/>
            <a:ext cx="4644710" cy="46448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7397" y="2004814"/>
            <a:ext cx="516083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Dynamic Air Tasking Order (ATO) Engine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17397" y="2406749"/>
            <a:ext cx="5160833" cy="737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dynamic ATO matching engine that re-allocates degraded (PMC) platforms to secondary, lower-stress sorties instead of grounding them outright — </a:t>
            </a:r>
            <a:r>
              <a:rPr lang="en-US" sz="13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preserving combat tempo</a:t>
            </a: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7397" y="3295352"/>
            <a:ext cx="516083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1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Secondary Sortie Types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17397" y="3697288"/>
            <a:ext cx="5160833" cy="843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Combat Air Patrol</a:t>
            </a:r>
            <a:endParaRPr lang="en-US" sz="1350" dirty="0"/>
          </a:p>
          <a:p>
            <a:pPr marL="274320" indent="-274320" algn="l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ISR Reconnaissance</a:t>
            </a:r>
            <a:endParaRPr lang="en-US" sz="1350" dirty="0"/>
          </a:p>
          <a:p>
            <a:pPr marL="274320" indent="-274320" algn="l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Tactical Ferry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17397" y="4710609"/>
            <a:ext cx="5160833" cy="851892"/>
          </a:xfrm>
          <a:prstGeom prst="roundRect">
            <a:avLst>
              <a:gd name="adj" fmla="val 3107"/>
            </a:avLst>
          </a:prstGeom>
          <a:solidFill>
            <a:srgbClr val="E4E4E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804" y="4923036"/>
            <a:ext cx="220459" cy="1764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90669" y="4890790"/>
            <a:ext cx="4411155" cy="491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available airframe stays in the fight — just matched to the right mission.</a:t>
            </a:r>
            <a:endParaRPr lang="en-US" sz="13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4E2FBD-5A07-EB73-139C-E36098B64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3786" y="6285805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10406"/>
            <a:ext cx="10752067" cy="52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3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Digital AFTO Form 781A Compliance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19814" y="1569442"/>
            <a:ext cx="10752067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generation of official Air Force defense discrepancy documentation — eliminating manual paperwork and ensuring regulatory compliance at machine speed.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284512"/>
            <a:ext cx="5292692" cy="184824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307" y="2448719"/>
            <a:ext cx="277607" cy="277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0252" y="3031827"/>
            <a:ext cx="4871816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Grounding Symbols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30252" y="3394670"/>
            <a:ext cx="4871816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X and Red Diagonal grounding symbols auto-applied per technical order criteria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9090" y="2284512"/>
            <a:ext cx="5292791" cy="184824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682" y="2448719"/>
            <a:ext cx="277607" cy="2776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89528" y="3031827"/>
            <a:ext cx="4871916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Job Control Numbers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6389528" y="3394670"/>
            <a:ext cx="4871916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JCN generation for every discrepancy, enabling full maintenance traceability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4299347"/>
            <a:ext cx="5292692" cy="184824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7307" y="4463554"/>
            <a:ext cx="277607" cy="27761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30252" y="5046663"/>
            <a:ext cx="4871816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Military J-Codes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930252" y="5409505"/>
            <a:ext cx="4871816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maintenance action codes applied automatically to each work order</a:t>
            </a:r>
            <a:endParaRPr lang="en-US" sz="14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9090" y="4299347"/>
            <a:ext cx="5292791" cy="1848247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682" y="4463554"/>
            <a:ext cx="277607" cy="27761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89528" y="5046663"/>
            <a:ext cx="4871916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DLA NSN Parts Requisitions</a:t>
            </a:r>
            <a:endParaRPr lang="en-US" sz="1650" dirty="0"/>
          </a:p>
        </p:txBody>
      </p:sp>
      <p:sp>
        <p:nvSpPr>
          <p:cNvPr id="19" name="Text 9"/>
          <p:cNvSpPr/>
          <p:nvPr/>
        </p:nvSpPr>
        <p:spPr>
          <a:xfrm>
            <a:off x="6389528" y="5409505"/>
            <a:ext cx="4871916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Defense Logistics Agency National Stock Number requisitions generated at point of diagnosis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6280BE-9287-48C2-A18D-2A2238DE8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3786" y="6314182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30957"/>
            <a:ext cx="10752067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Deep IBM Bob FastMCP Integration &amp; watsonx.ai Granite Intelligence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2513905"/>
            <a:ext cx="4562361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FastMCP Server — 11 Autonomous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9814" y="3303984"/>
            <a:ext cx="4562361" cy="635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FastMCP server at </a:t>
            </a:r>
            <a:r>
              <a:rPr lang="en-US" sz="16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exposes 11 autonomous tools to IBM Bob for: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814" y="4125020"/>
            <a:ext cx="4562361" cy="183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Fleet summaries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Asset diagnostics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What-if stress tests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 order generation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Maintenance history 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90361" y="2513905"/>
            <a:ext cx="568777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watsonx.ai Granite 3-8B Instruct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90361" y="3011785"/>
            <a:ext cx="5687771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plain-language diagnostic reasoning for maintainers — translating complex sensor anomalies into actionable natural language explanations.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0361" y="4168577"/>
            <a:ext cx="5687771" cy="1398290"/>
          </a:xfrm>
          <a:prstGeom prst="roundRect">
            <a:avLst>
              <a:gd name="adj" fmla="val 2206"/>
            </a:avLst>
          </a:prstGeom>
          <a:solidFill>
            <a:srgbClr val="E4E4E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36" y="4461570"/>
            <a:ext cx="257069" cy="205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58781" y="4405015"/>
            <a:ext cx="4813676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Dual-mode engine guarantees crash-free execution even in </a:t>
            </a:r>
            <a:r>
              <a:rPr lang="en-US" sz="16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air-gapped or keyless test environments</a:t>
            </a: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built for operational resilience.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561A97-1949-6682-13F2-C14E351BF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37" y="6326256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35707"/>
            <a:ext cx="10752067" cy="43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2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Operational Impact &amp;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19814" y="1405334"/>
            <a:ext cx="11361652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Projected outcomes from full fleet deployment of the D1 Mission Readiness Copilot: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55770" y="1814909"/>
            <a:ext cx="2615738" cy="5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kern="0" spc="-4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9814" y="2487811"/>
            <a:ext cx="34876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Fewer Unplanned Failures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9814" y="2776240"/>
            <a:ext cx="34876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Reduction in unexpected in-field component failures across the fleet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87979" y="1814909"/>
            <a:ext cx="2615738" cy="5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kern="0" spc="-4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52022" y="2487811"/>
            <a:ext cx="34876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Lower MTTR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52022" y="2776240"/>
            <a:ext cx="34876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Reduction in Mean Time To Repair through pre-staged parts and predictive work orders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20187" y="1814909"/>
            <a:ext cx="2615738" cy="50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kern="0" spc="-4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85%+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84231" y="2487811"/>
            <a:ext cx="34876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FMC Readiness Rate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84231" y="2776240"/>
            <a:ext cx="34876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Sustained Fully Mission Capable fleet readiness — exceeding operational thresholds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654" y="3311128"/>
            <a:ext cx="4736287" cy="281106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24179" y="5377414"/>
            <a:ext cx="1177330" cy="412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 Readiness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540420" y="5377414"/>
            <a:ext cx="1177330" cy="412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Allocate Platforms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032470" y="5377414"/>
            <a:ext cx="1177330" cy="412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 Failures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225A86-3814-EBFB-189A-A1E358A2E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1818" y="6362631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56686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Known Limitations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562622"/>
            <a:ext cx="3446872" cy="2728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2486" y="2793702"/>
            <a:ext cx="288312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Simulated Bus Telemetry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52486" y="3501430"/>
            <a:ext cx="2883126" cy="154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streams are mapped from real run-to-failure NASA C-MAPSS turbofan data rather than a physical MIL-STD-1553 aircraft hardware bus.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2362" y="2562622"/>
            <a:ext cx="3446872" cy="27285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5034" y="2793702"/>
            <a:ext cx="288312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Dual-Mode AI Engine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705034" y="3209230"/>
            <a:ext cx="2883126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an evaluator does not provide active IBM Cloud credentials, the system activates an offline deterministic Granite 3-8B simulation engine to guarantee a crash-free experience.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4909" y="2562622"/>
            <a:ext cx="3446872" cy="27285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7582" y="2793702"/>
            <a:ext cx="288312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Authentication Bypass in Dev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57582" y="3501430"/>
            <a:ext cx="2883126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Token requirements default to Commander role in development mode to permit frictionless evaluation.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B754CE-EE3C-6CA1-BF98-6D00C30F2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786" y="6362631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445716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Team Galcogens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2441476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Meet the dedicated team from CHARUSAT University behind the D1 Mission Readiness Copilot: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981325"/>
            <a:ext cx="2533686" cy="24308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175" y="2981325"/>
            <a:ext cx="2533785" cy="243085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636" y="2981325"/>
            <a:ext cx="2533785" cy="243085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096" y="2981325"/>
            <a:ext cx="2533785" cy="2430859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25489" y="3187005"/>
            <a:ext cx="212233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Kunj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925489" y="3602534"/>
            <a:ext cx="2122335" cy="13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Lead, AI/ML Specialist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u="sng" dirty="0">
                <a:solidFill>
                  <a:srgbClr val="2D2E34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d24aiml082@charusat.edu.in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3664851" y="3187005"/>
            <a:ext cx="2122434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Vedant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3664851" y="3602534"/>
            <a:ext cx="2122434" cy="1048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AI/ML Developer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u="sng" dirty="0">
                <a:solidFill>
                  <a:srgbClr val="2D2E34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23aiml042@charusat.edu.in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404311" y="3187005"/>
            <a:ext cx="2122434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Path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404311" y="3602534"/>
            <a:ext cx="2122434" cy="1048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AI/ML Developer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u="sng" dirty="0">
                <a:solidFill>
                  <a:srgbClr val="2D2E34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23aiml055@charusat.edu.in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143771" y="3187005"/>
            <a:ext cx="2122434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Venisha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143771" y="3602534"/>
            <a:ext cx="2122434" cy="1048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Science Specialist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u="sng" dirty="0">
                <a:solidFill>
                  <a:srgbClr val="2D2E34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23dcs134@charusat.edu.in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D82C07-EA9B-3E24-03C1-D679DD8785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3786" y="6362631"/>
            <a:ext cx="2248214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D2E3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875</Words>
  <Application>Microsoft Office PowerPoint</Application>
  <PresentationFormat>Widescreen</PresentationFormat>
  <Paragraphs>128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Source Sans 3</vt:lpstr>
      <vt:lpstr>Source Sans 3 Bold</vt:lpstr>
      <vt:lpstr>Montserrat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KuNj ChAuHaN</dc:creator>
  <cp:lastModifiedBy>KUNJ CHAUHAN</cp:lastModifiedBy>
  <cp:revision>2</cp:revision>
  <dcterms:created xsi:type="dcterms:W3CDTF">2026-09-15T17:05:31Z</dcterms:created>
  <dcterms:modified xsi:type="dcterms:W3CDTF">2026-09-15T17:09:07Z</dcterms:modified>
</cp:coreProperties>
</file>